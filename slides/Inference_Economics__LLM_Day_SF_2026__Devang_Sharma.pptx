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One sentence on who I am, then straight in: this talk is about the engineering decisions that decide whether your AI product makes money. Thirty minutes, a live demo in the middle, and a framework you can use on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laugh, then land the point: per-token prices fell every year, but tokens per user grew faster. Volume won. Serving is now the main cost of an AI product, and almost nobody engineered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timeline fast. The punchline: per-token prices fell every single year and it did not matter, because tokens per user grew faster. Training is capex, inference is opex, and opex is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dead simple for the non-technical half of the room: inference is just the model answering. Training happened months ago. This is the part that runs every time someone hits enter, and the part that shows up on the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callout exactly as written, slowly. The diagram shows it: the prompt goes in whole, the answer comes out word by word with a full model re-read each time. The quoted sentence explains batching, caching, quantization, and why one lever fails later. If they remember one thing, make it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Translate everything into money for the non-technical half. The meme is the CFO watching the GPU eat the margin. Three plain points, then the optimistic close: this is controllable.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Twenty seconds. Signpost and move. Promise the demo and the take-home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reframes the whole talk: not tokens per second, but GPUs to hold a latency promise at a traffic level. Not gameable, comparable across setups, and it is the unit on the invoice.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steps, then the trust case: real mechanisms, published hardware math, 11 of 11 reference points reproduced. The kicker: this runs on a laptop, offline, before you spend anything. Do not say simulation equals measurement; say calibrated, here is the error bar, here is the one command that checks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whole project in one picture for the non-technical audience: traffic goes in, the smallest working fleet comes out. Then we stack the five levers and the GPU number drops from 32 to 5. Point at the flat 8 to 8: that is the teaser for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Name the five, one line each, and set the hook: one lever fails. Do not reveal which. Each attacks a different bottleneck, which is why the stacking order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table before switching to the terminal: same traffic, same promise, five runs plus a spike test. Everything runs offline on this laptop. The pauses are the fleet search doing real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terminal. Keep RUNBOOK.md open for exact keystrokes. Narrate only the GPU column and whether the latency promise holds. If anything fails, fall back to the results slide: every number on it came from this exact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GPU column top to bottom: 32, 20, 8, 8, 5. Point at the flat one: speculative decoding bought nothing, and that is deliberate. The promise held at every step. Quality cost is a third of one percent, almost all from INT8, a published average, not my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lessons. One: spec decoding fails exactly where the mental model from slide 4 says it must, at high batch. If a benchmark quotes a spec-decoding speedup without batch size, it told you nothing. Two: you cannot serve 2x traffic on the same fleet, so decide in advance how you degrade, or the default decides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playbook and the invitation: swap in your traffic, your model, your GPU price. Future use cases on screen. Final line: 32 to 5, same promise, forty-eight thousand a month, every number reproducible on a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the hard questions. The brief has ten prepared answers: trust in the simulator, why spec decoding failed, the 6.4x math, quality cost, routing design, autoscaling vs admission control, and what is not modeled (MoE, disaggregation).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23317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800" b="1">
                <a:solidFill>
                  <a:srgbClr val="FFFFFF"/>
                </a:solidFill>
                <a:latin typeface="Calibri"/>
              </a:rPr>
              <a:t>Inference Economics</a:t>
            </a:r>
            <a:endParaRPr sz="5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35204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2DD4BF"/>
                </a:solidFill>
                <a:latin typeface="Calibri"/>
              </a:rPr>
              <a:t>Engineering LLMs for Cost, Latency, and Scale</a:t>
            </a:r>
            <a:endParaRPr sz="2800" b="0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Devang Sharma</a:t>
            </a:r>
            <a:endParaRPr sz="24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Senior AI Engineer, Meta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LLM Day San Francisco 2026  |  Track 2  |  Harness HQ, 55 Stockton St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2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THE INDUSTRY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Everyone shipped AI. Then the bill arrived.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The 2026 mood, in one meme.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pic>
        <p:nvPicPr>
          <p:cNvPr id="7" name="Picture 6" descr="media-generation-inference-bill-meme-0-be682878-f83d-42fc-8383-2645989dd07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6766560" cy="4511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23774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Inference quietly became the biggest cost line in most AI products.</a:t>
            </a:r>
            <a:endParaRPr sz="22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9FB3C8"/>
                </a:solidFill>
                <a:latin typeface="Calibri"/>
              </a:rPr>
              <a:t>Models got bigger. Traffic grew. Bills scaled linearly while margins collapsed.</a:t>
            </a:r>
            <a:endParaRPr sz="1700" b="0">
              <a:solidFill>
                <a:srgbClr val="9FB3C8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The teams that win will not have the biggest models. They will be the ones serving them 10x cheaper without losing quality.</a:t>
            </a:r>
            <a:endParaRPr sz="1700" b="0">
              <a:solidFill>
                <a:srgbClr val="2DD4B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3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THE INDUSTRY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Where the money moved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Training was the bill. Then serving took over.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606040" cy="237744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04872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DD4BF"/>
                </a:solidFill>
                <a:latin typeface="Calibri"/>
              </a:rPr>
              <a:t>2023</a:t>
            </a:r>
            <a:endParaRPr sz="26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The capability race</a:t>
            </a:r>
            <a:endParaRPr sz="17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GPT-4, everyone ships a demo.
Money: training.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29000" y="2240280"/>
            <a:ext cx="2606040" cy="237744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404872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DD4BF"/>
                </a:solidFill>
                <a:latin typeface="Calibri"/>
              </a:rPr>
              <a:t>2024</a:t>
            </a:r>
            <a:endParaRPr sz="26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The reasoning turn</a:t>
            </a:r>
            <a:endParaRPr sz="17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Models think before answering.
Context windows explode.
Money: still training.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2240280"/>
            <a:ext cx="2606040" cy="237744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04872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DD4BF"/>
                </a:solidFill>
                <a:latin typeface="Calibri"/>
              </a:rPr>
              <a:t>2025</a:t>
            </a:r>
            <a:endParaRPr sz="26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Agents reach production</a:t>
            </a:r>
            <a:endParaRPr sz="17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One user request becomes
a dozen model calls.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06839" y="2240280"/>
            <a:ext cx="2606040" cy="237744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39" y="2404872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DD4BF"/>
                </a:solidFill>
                <a:latin typeface="Calibri"/>
              </a:rPr>
              <a:t>2026</a:t>
            </a:r>
            <a:endParaRPr sz="26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Serving dominates</a:t>
            </a:r>
            <a:endParaRPr sz="17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Reasoning x agents x context.
The budget moved to inference.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Training is capex: you pay once. Inference is opex: it arrives on every request, every day, forever.</a:t>
            </a:r>
            <a:endParaRPr sz="19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3C8"/>
                </a:solidFill>
                <a:latin typeface="Calibri"/>
              </a:rPr>
              <a:t>Three multipliers stacked on the same bill: reasoning emits many more tokens per question, agents multiply calls per request, and context windows went from 4K to a million. None were mistakes. All were capability wins that cost tokens.</a:t>
            </a:r>
            <a:endParaRPr sz="1600" b="0">
              <a:solidFill>
                <a:srgbClr val="9FB3C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4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FOUNDATIONS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What is inference, really?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The simplest definition you will hear today.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Inference is running a trained model to answer a question.</a:t>
            </a:r>
            <a:endParaRPr sz="22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No training. No learning. Just answering, live, over and over, as fast as possible.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1560" y="3886200"/>
            <a:ext cx="2834640" cy="155448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050791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DD4BF"/>
                </a:solidFill>
                <a:latin typeface="Calibri"/>
              </a:rPr>
              <a:t>You ask</a:t>
            </a:r>
            <a:endParaRPr sz="20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a question,
a prompt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977639" y="4526280"/>
            <a:ext cx="54864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3886200"/>
            <a:ext cx="2834640" cy="155448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4050791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The model thinks</a:t>
            </a:r>
            <a:endParaRPr sz="2000" b="1">
              <a:solidFill>
                <a:srgbClr val="FBBF24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billions of tiny
math operations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7543800" y="4526280"/>
            <a:ext cx="54864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79" y="3886200"/>
            <a:ext cx="2834640" cy="155448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050791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DD4BF"/>
                </a:solidFill>
                <a:latin typeface="Calibri"/>
              </a:rPr>
              <a:t>Answer streams back</a:t>
            </a:r>
            <a:endParaRPr sz="20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one word
at a time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Every chatbot reply, every agent step, every autocomplete: that is inference. And you pay for each one.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5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FOUNDATIONS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Two halves, two speed limits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This is the one mental model the whole talk depends on.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It has two halves:</a:t>
            </a:r>
            <a:endParaRPr sz="1800" b="0">
              <a:solidFill>
                <a:srgbClr val="9FB3C8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2DD4BF"/>
                </a:solidFill>
                <a:latin typeface="Calibri"/>
              </a:rPr>
              <a:t>reading your prompt (fast, math-heavy)</a:t>
            </a:r>
            <a:endParaRPr sz="21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and writing the answer one word at a time (slow, because the GPU re-reads the whole model from memory for every single word).</a:t>
            </a:r>
            <a:endParaRPr sz="2100" b="1">
              <a:solidFill>
                <a:srgbClr val="FBBF24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5212080" cy="155448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1  Reading your prompt</a:t>
            </a:r>
            <a:endParaRPr sz="18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4526280"/>
            <a:ext cx="868680" cy="457200"/>
          </a:xfrm>
          <a:prstGeom prst="roundRect">
            <a:avLst/>
          </a:prstGeom>
          <a:solidFill>
            <a:srgbClr val="1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write</a:t>
            </a:r>
            <a:endParaRPr sz="1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828800" y="4526280"/>
            <a:ext cx="868680" cy="457200"/>
          </a:xfrm>
          <a:prstGeom prst="roundRect">
            <a:avLst/>
          </a:prstGeom>
          <a:solidFill>
            <a:srgbClr val="1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me</a:t>
            </a:r>
            <a:endParaRPr sz="1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788920" y="4526280"/>
            <a:ext cx="868680" cy="457200"/>
          </a:xfrm>
          <a:prstGeom prst="roundRect">
            <a:avLst/>
          </a:prstGeom>
          <a:solidFill>
            <a:srgbClr val="1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a</a:t>
            </a:r>
            <a:endParaRPr sz="1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49040" y="4526280"/>
            <a:ext cx="868680" cy="457200"/>
          </a:xfrm>
          <a:prstGeom prst="roundRect">
            <a:avLst/>
          </a:prstGeom>
          <a:solidFill>
            <a:srgbClr val="1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poem</a:t>
            </a:r>
            <a:endParaRPr sz="1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whole prompt, all at once  |  math-heavy, fast</a:t>
            </a:r>
            <a:endParaRPr sz="14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212080" cy="155448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9319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BBF24"/>
                </a:solidFill>
                <a:latin typeface="Calibri"/>
              </a:rPr>
              <a:t>2  Writing the answer</a:t>
            </a:r>
            <a:endParaRPr sz="1800" b="1">
              <a:solidFill>
                <a:srgbClr val="FBBF24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0" y="4526280"/>
            <a:ext cx="868680" cy="457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A1428"/>
                </a:solidFill>
                <a:latin typeface="Calibri"/>
              </a:rPr>
              <a:t>roses</a:t>
            </a:r>
            <a:endParaRPr sz="1400" b="1">
              <a:solidFill>
                <a:srgbClr val="0A1428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89520" y="4526280"/>
            <a:ext cx="868680" cy="457200"/>
          </a:xfrm>
          <a:prstGeom prst="roundRect">
            <a:avLst/>
          </a:prstGeom>
          <a:noFill/>
          <a:ln w="1905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9FB3C8"/>
                </a:solidFill>
                <a:latin typeface="Calibri"/>
              </a:rPr>
              <a:t>...</a:t>
            </a:r>
            <a:endParaRPr sz="140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549640" y="4526280"/>
            <a:ext cx="868680" cy="457200"/>
          </a:xfrm>
          <a:prstGeom prst="roundRect">
            <a:avLst/>
          </a:prstGeom>
          <a:noFill/>
          <a:ln w="1905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9FB3C8"/>
                </a:solidFill>
                <a:latin typeface="Calibri"/>
              </a:rPr>
              <a:t>...</a:t>
            </a:r>
            <a:endParaRPr sz="140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509760" y="4526280"/>
            <a:ext cx="868680" cy="457200"/>
          </a:xfrm>
          <a:prstGeom prst="roundRect">
            <a:avLst/>
          </a:prstGeom>
          <a:noFill/>
          <a:ln w="19050">
            <a:solidFill>
              <a:srgbClr val="9FB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9FB3C8"/>
                </a:solidFill>
                <a:latin typeface="Calibri"/>
              </a:rPr>
              <a:t>...</a:t>
            </a:r>
            <a:endParaRPr sz="140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0" y="5074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FB3C8"/>
                </a:solidFill>
                <a:latin typeface="Calibri"/>
              </a:rPr>
              <a:t>one word at a time  |  re-reads the model per word</a:t>
            </a:r>
            <a:endParaRPr sz="13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Calibri"/>
              </a:rPr>
              <a:t>“If the GPU has to read the entire model to write one word for one user, it may as well write a word for a hundred users in that same read.”</a:t>
            </a:r>
            <a:endParaRPr sz="1700" b="1">
              <a:solidFill>
                <a:srgbClr val="2DD4B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WHY IT MATTERS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Why should you care?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Because this is where your margin goes.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pic>
        <p:nvPicPr>
          <p:cNvPr id="7" name="Picture 6" descr="media-generation-receipt-meme-0-d928bea4-b7fe-4059-9d5c-75b60faaa6a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148840"/>
            <a:ext cx="4572000" cy="257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24028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BBF24"/>
                </a:solidFill>
                <a:latin typeface="Calibri"/>
              </a:rPr>
              <a:t>$57,600 a month</a:t>
            </a:r>
            <a:endParaRPr sz="3400" b="1">
              <a:solidFill>
                <a:srgbClr val="FBBF24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9FB3C8"/>
                </a:solidFill>
                <a:latin typeface="Calibri"/>
              </a:rPr>
              <a:t>to answer 35 questions a second. One model. Not a hyperscaler, a mid-size product.</a:t>
            </a:r>
            <a:endParaRPr sz="1600" b="0">
              <a:solidFill>
                <a:srgbClr val="9FB3C8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You pay per answer, not per user. More users means thinner margins.</a:t>
            </a:r>
            <a:endParaRPr sz="170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Speed and cost fight each other. Every saving trades against waiting time.</a:t>
            </a:r>
            <a:endParaRPr sz="170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The out-of-the-box setup is the expensive one. Nobody ships a tuned fleet by accident.</a:t>
            </a:r>
            <a:endParaRPr sz="1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The winners will serve AI ten times cheaper at the same quality. That is engineering, not luck.</a:t>
            </a:r>
            <a:endParaRPr sz="1800" b="1">
              <a:solidFill>
                <a:srgbClr val="2DD4B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7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AGENDA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The plan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Problem, approach, live demo, then the playbook.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011680" cy="292608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1554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DD4BF"/>
                </a:solidFill>
                <a:latin typeface="Calibri"/>
              </a:rPr>
              <a:t>1</a:t>
            </a:r>
            <a:endParaRPr sz="30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The problem</a:t>
            </a:r>
            <a:endParaRPr sz="19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The exact question, stated precisely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34639" y="2377440"/>
            <a:ext cx="2011680" cy="292608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542032"/>
            <a:ext cx="1554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DD4BF"/>
                </a:solidFill>
                <a:latin typeface="Calibri"/>
              </a:rPr>
              <a:t>2</a:t>
            </a:r>
            <a:endParaRPr sz="30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The approach</a:t>
            </a:r>
            <a:endParaRPr sz="19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A flight simulator for your GPU bill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0" y="2377440"/>
            <a:ext cx="2011680" cy="292608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542032"/>
            <a:ext cx="1554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BBF24"/>
                </a:solidFill>
                <a:latin typeface="Calibri"/>
              </a:rPr>
              <a:t>3</a:t>
            </a:r>
            <a:endParaRPr sz="3000" b="1">
              <a:solidFill>
                <a:srgbClr val="FBBF24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Live demo</a:t>
            </a:r>
            <a:endParaRPr sz="19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A real run, real metrics, no code tour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223759" y="2377440"/>
            <a:ext cx="2011680" cy="292608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59" y="2542032"/>
            <a:ext cx="1554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DD4BF"/>
                </a:solidFill>
                <a:latin typeface="Calibri"/>
              </a:rPr>
              <a:t>4</a:t>
            </a:r>
            <a:endParaRPr sz="30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Results + playbook</a:t>
            </a:r>
            <a:endParaRPr sz="19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What moved, what failed, what to steal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418319" y="2377440"/>
            <a:ext cx="2011680" cy="292608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2542032"/>
            <a:ext cx="1554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9FB3C8"/>
                </a:solidFill>
                <a:latin typeface="Calibri"/>
              </a:rPr>
              <a:t>5</a:t>
            </a:r>
            <a:endParaRPr sz="3000" b="1">
              <a:solidFill>
                <a:srgbClr val="9FB3C8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Q&amp;A</a:t>
            </a:r>
            <a:endParaRPr sz="19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Bring your worst inference bill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8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THE PROBLEM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The question nobody can answer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“How many tokens per second can we do?”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9FB3C8"/>
                </a:solidFill>
                <a:latin typeface="Calibri"/>
              </a:rPr>
              <a:t>That number is cherry-pickable. Quietly let replies get slower, and it improves. Teams end up arguing about benchmarks that were never comparable.</a:t>
            </a:r>
            <a:endParaRPr sz="19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The question that has an answer:</a:t>
            </a:r>
            <a:endParaRPr sz="1800" b="0">
              <a:solidFill>
                <a:srgbClr val="9FB3C8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DD4BF"/>
                </a:solidFill>
                <a:latin typeface="Calibri"/>
              </a:rPr>
              <a:t>How many GPUs, to hold this latency, at this traffic?</a:t>
            </a:r>
            <a:endParaRPr sz="27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Fix the traffic. Fix the latency promise. Then the only thing left to vary is the engineering.</a:t>
            </a:r>
            <a:endParaRPr sz="19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3C8"/>
                </a:solidFill>
                <a:latin typeface="Calibri"/>
              </a:rPr>
              <a:t>Latency is an output, never an input. Queueing and contention produce it. Assume it, and the model can only tell you what you already believed.</a:t>
            </a:r>
            <a:endParaRPr sz="1700" b="0">
              <a:solidFill>
                <a:srgbClr val="9FB3C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9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THE APPROACH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A flight simulator for your GPU bill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Capacity planning before you rent a single GPU.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383280" cy="173736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DD4BF"/>
                </a:solidFill>
                <a:latin typeface="Calibri"/>
              </a:rPr>
              <a:t>1</a:t>
            </a:r>
            <a:endParaRPr sz="30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Give it your traffic shape
and your latency SLO.</a:t>
            </a:r>
            <a:endParaRPr sz="17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51960" y="2286000"/>
            <a:ext cx="3383280" cy="173736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50592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DD4BF"/>
                </a:solidFill>
                <a:latin typeface="Calibri"/>
              </a:rPr>
              <a:t>2</a:t>
            </a:r>
            <a:endParaRPr sz="30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It searches replica counts
until both targets hold.</a:t>
            </a:r>
            <a:endParaRPr sz="17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63840" y="2286000"/>
            <a:ext cx="3383280" cy="173736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450592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BBF24"/>
                </a:solidFill>
                <a:latin typeface="Calibri"/>
              </a:rPr>
              <a:t>3</a:t>
            </a:r>
            <a:endParaRPr sz="3000" b="1">
              <a:solidFill>
                <a:srgbClr val="FBBF24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Flip a lever, re-run,
read the new GPU count.</a:t>
            </a:r>
            <a:endParaRPr sz="17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Why trust it</a:t>
            </a:r>
            <a:endParaRPr sz="1900" b="1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9FB3C8"/>
                </a:solidFill>
                <a:latin typeface="Calibri"/>
              </a:rPr>
              <a:t>•  Mechanisms are actually implemented, not fudge factors.</a:t>
            </a:r>
            <a:endParaRPr sz="1600">
              <a:solidFill>
                <a:srgbClr val="9FB3C8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9FB3C8"/>
                </a:solidFill>
                <a:latin typeface="Calibri"/>
              </a:rPr>
              <a:t>•  Hardware math from published specs.</a:t>
            </a:r>
            <a:endParaRPr sz="1600">
              <a:solidFill>
                <a:srgbClr val="9FB3C8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9FB3C8"/>
                </a:solidFill>
                <a:latin typeface="Calibri"/>
              </a:rPr>
              <a:t>•  Checked against 11 published reference points: 11 of 11 reproduced, worst error 6.5%.</a:t>
            </a:r>
            <a:endParaRPr sz="160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Calibri"/>
              </a:rPr>
              <a:t>Answers it on a laptop in about 20 seconds. No GPU, no network, no API key.</a:t>
            </a:r>
            <a:endParaRPr sz="1700" b="1">
              <a:solidFill>
                <a:srgbClr val="2DD4B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10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THE APPROACH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What we built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A capacity-planning tool, in one picture.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51560" y="2103120"/>
            <a:ext cx="2834640" cy="164592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267712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DD4BF"/>
                </a:solidFill>
                <a:latin typeface="Calibri"/>
              </a:rPr>
              <a:t>Your traffic</a:t>
            </a:r>
            <a:endParaRPr sz="20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shape + volume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977639" y="2788920"/>
            <a:ext cx="54864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2103120"/>
            <a:ext cx="2834640" cy="164592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267712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The simulator</a:t>
            </a:r>
            <a:endParaRPr sz="2000" b="1">
              <a:solidFill>
                <a:srgbClr val="FBBF24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tries fleet sizes
until the promise holds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7543800" y="2788920"/>
            <a:ext cx="54864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83879" y="2103120"/>
            <a:ext cx="2834640" cy="164592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267712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4D399"/>
                </a:solidFill>
                <a:latin typeface="Calibri"/>
              </a:rPr>
              <a:t>Smallest fleet</a:t>
            </a:r>
            <a:endParaRPr sz="2000" b="1">
              <a:solidFill>
                <a:srgbClr val="34D399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that keeps
latency + quality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3C8"/>
                </a:solidFill>
                <a:latin typeface="Calibri"/>
              </a:rPr>
              <a:t>Then we flip the five levers on, one by one, and watch the GPU count fall:</a:t>
            </a:r>
            <a:endParaRPr sz="17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1828800" cy="123444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36592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9FB3C8"/>
                </a:solidFill>
                <a:latin typeface="Calibri"/>
              </a:rPr>
              <a:t>32</a:t>
            </a:r>
            <a:endParaRPr sz="3000" b="1">
              <a:solidFill>
                <a:srgbClr val="9FB3C8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Start</a:t>
            </a:r>
            <a:endParaRPr sz="1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14600" y="4983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9FB3C8"/>
                </a:solidFill>
                <a:latin typeface="Calibri"/>
              </a:rPr>
              <a:t>→</a:t>
            </a:r>
            <a:endParaRPr sz="2200" b="1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34639" y="4572000"/>
            <a:ext cx="1828800" cy="123444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39" y="4736592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DD4BF"/>
                </a:solidFill>
                <a:latin typeface="Calibri"/>
              </a:rPr>
              <a:t>20</a:t>
            </a:r>
            <a:endParaRPr sz="30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Prefix caching</a:t>
            </a:r>
            <a:endParaRPr sz="1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09159" y="4983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9FB3C8"/>
                </a:solidFill>
                <a:latin typeface="Calibri"/>
              </a:rPr>
              <a:t>→</a:t>
            </a:r>
            <a:endParaRPr sz="2200" b="1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0" y="4572000"/>
            <a:ext cx="1828800" cy="123444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4736592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DD4BF"/>
                </a:solidFill>
                <a:latin typeface="Calibri"/>
              </a:rPr>
              <a:t>8</a:t>
            </a:r>
            <a:endParaRPr sz="30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INT8</a:t>
            </a:r>
            <a:endParaRPr sz="1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03720" y="4983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9FB3C8"/>
                </a:solidFill>
                <a:latin typeface="Calibri"/>
              </a:rPr>
              <a:t>→</a:t>
            </a:r>
            <a:endParaRPr sz="2200" b="1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223759" y="4572000"/>
            <a:ext cx="1828800" cy="123444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59" y="4736592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BBF24"/>
                </a:solidFill>
                <a:latin typeface="Calibri"/>
              </a:rPr>
              <a:t>8</a:t>
            </a:r>
            <a:endParaRPr sz="3000" b="1">
              <a:solidFill>
                <a:srgbClr val="FBBF24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Spec decoding</a:t>
            </a:r>
            <a:endParaRPr sz="1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98280" y="4983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9FB3C8"/>
                </a:solidFill>
                <a:latin typeface="Calibri"/>
              </a:rPr>
              <a:t>→</a:t>
            </a:r>
            <a:endParaRPr sz="2200" b="1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418319" y="4572000"/>
            <a:ext cx="1828800" cy="123444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19" y="4736592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4D399"/>
                </a:solidFill>
                <a:latin typeface="Calibri"/>
              </a:rPr>
              <a:t>5</a:t>
            </a:r>
            <a:endParaRPr sz="3000" b="1">
              <a:solidFill>
                <a:srgbClr val="34D399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Routing + cache</a:t>
            </a:r>
            <a:endParaRPr sz="1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Calibri"/>
              </a:rPr>
              <a:t>Same traffic, same promise. The only thing that changes is the engineering.</a:t>
            </a:r>
            <a:endParaRPr sz="1700" b="1">
              <a:solidFill>
                <a:srgbClr val="2DD4B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11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THE APPROACH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Five levers, five different bottlenecks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Which is exactly why the order matters.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011680" cy="274320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DD4BF"/>
                </a:solidFill>
                <a:latin typeface="Calibri"/>
              </a:rPr>
              <a:t>Prefix caching</a:t>
            </a:r>
            <a:endParaRPr sz="16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Stop recomputing the same system prompt and retrieved context on every request.</a:t>
            </a:r>
            <a:endParaRPr sz="14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34639" y="2377440"/>
            <a:ext cx="2011680" cy="274320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542032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DD4BF"/>
                </a:solidFill>
                <a:latin typeface="Calibri"/>
              </a:rPr>
              <a:t>Quantization (INT8)</a:t>
            </a:r>
            <a:endParaRPr sz="16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Make the model physically smaller in memory, so every read is cheaper.</a:t>
            </a:r>
            <a:endParaRPr sz="14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0" y="2377440"/>
            <a:ext cx="2011680" cy="274320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542032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Speculative decoding</a:t>
            </a:r>
            <a:endParaRPr sz="1600" b="1">
              <a:solidFill>
                <a:srgbClr val="FBBF24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A small model guesses ahead; the big one checks several words at once.</a:t>
            </a:r>
            <a:endParaRPr sz="14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223759" y="2377440"/>
            <a:ext cx="2011680" cy="274320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59" y="2542032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DD4BF"/>
                </a:solidFill>
                <a:latin typeface="Calibri"/>
              </a:rPr>
              <a:t>Routing + response cache</a:t>
            </a:r>
            <a:endParaRPr sz="16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Easy questions go to a smaller model. Repeats skip the GPU entirely.</a:t>
            </a:r>
            <a:endParaRPr sz="14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418319" y="2377440"/>
            <a:ext cx="2011680" cy="274320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2542032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7171"/>
                </a:solidFill>
                <a:latin typeface="Calibri"/>
              </a:rPr>
              <a:t>Survival</a:t>
            </a:r>
            <a:endParaRPr sz="1600" b="1">
              <a:solidFill>
                <a:srgbClr val="F87171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What happens when traffic doubles with no warning.</a:t>
            </a:r>
            <a:endParaRPr sz="14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Watch the GPU column in the demo. One of these five is going to disappoint us.</a:t>
            </a:r>
            <a:endParaRPr sz="18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3C8"/>
                </a:solidFill>
                <a:latin typeface="Calibri"/>
              </a:rPr>
              <a:t>That will be the most useful slide in the deck.</a:t>
            </a:r>
            <a:endParaRPr sz="1700" b="0">
              <a:solidFill>
                <a:srgbClr val="9FB3C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12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LIVE DEMO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What we are about to run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Five configurations, one traffic shape, one promise that never moves.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383280" cy="310896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DD4BF"/>
                </a:solidFill>
                <a:latin typeface="Calibri"/>
              </a:rPr>
              <a:t>The traffic</a:t>
            </a:r>
            <a:endParaRPr sz="20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3,000 requests over 86 seconds = 34.8 req/s</a:t>
            </a:r>
            <a:endParaRPr sz="16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40% chat  |  30% RAG  |  18% agent  |  12% code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3400" y="2286000"/>
            <a:ext cx="3383280" cy="310896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450592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BBF24"/>
                </a:solidFill>
                <a:latin typeface="Calibri"/>
              </a:rPr>
              <a:t>The promise (never moves)</a:t>
            </a:r>
            <a:endParaRPr sz="2000" b="1">
              <a:solidFill>
                <a:srgbClr val="FBBF24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p95 first token ≤ 1 second</a:t>
            </a:r>
            <a:endParaRPr sz="16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per-token ≤ 50 ms</a:t>
            </a:r>
            <a:endParaRPr sz="16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The fleet search must hold both, every run.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383280" cy="310896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450592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DD4BF"/>
                </a:solidFill>
                <a:latin typeface="Calibri"/>
              </a:rPr>
              <a:t>The hardware</a:t>
            </a:r>
            <a:endParaRPr sz="20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H100 SXM, 3.35 TB/s memory bandwidth</a:t>
            </a:r>
            <a:endParaRPr sz="16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Llama-70B  |  $2.50 per GPU-hour</a:t>
            </a:r>
            <a:endParaRPr sz="16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KV cache: 320 KiB per token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3C8"/>
                </a:solidFill>
                <a:latin typeface="Calibri"/>
              </a:rPr>
              <a:t>Runs:  stock vLLM  →  + prefix cache  →  + INT8  →  + speculative decoding  →  + routing &amp; cache  →  spike test (2x traffic)</a:t>
            </a:r>
            <a:endParaRPr sz="1600" b="0">
              <a:solidFill>
                <a:srgbClr val="9FB3C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13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6400" b="1">
                <a:solidFill>
                  <a:srgbClr val="2DD4BF"/>
                </a:solidFill>
                <a:latin typeface="Calibri"/>
              </a:rPr>
              <a:t>LIVE DEMO</a:t>
            </a:r>
            <a:endParaRPr sz="6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FFFF"/>
                </a:solidFill>
                <a:latin typeface="Consolas"/>
              </a:rPr>
              <a:t>python demo.py</a:t>
            </a:r>
            <a:endParaRPr sz="34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9FB3C8"/>
                </a:solidFill>
                <a:latin typeface="Calibri"/>
              </a:rPr>
              <a:t>github.com/Devang-25/inference-economics</a:t>
            </a:r>
            <a:endParaRPr sz="20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Five minutes. I will not tour the code. I will run it, show the metrics, and the repo is yours afterwards.</a:t>
            </a:r>
            <a:endParaRPr sz="1900" b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14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RESULTS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32 GPUs → 5.  $57,600 → $9,000 a month.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Same traffic. Same latency promise, kept at every step. Quality cost: 0.31%.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514600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188720"/>
                <a:gridCol w="1737360"/>
                <a:gridCol w="2834640"/>
              </a:tblGrid>
              <a:tr h="4724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Stage</a:t>
                      </a:r>
                      <a:endParaRPr sz="1400" b="1">
                        <a:solidFill>
                          <a:srgbClr val="2DD4B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A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GPUs</a:t>
                      </a:r>
                      <a:endParaRPr sz="1400" b="1">
                        <a:solidFill>
                          <a:srgbClr val="2DD4B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A2E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$ / month</a:t>
                      </a:r>
                      <a:endParaRPr sz="1400" b="1">
                        <a:solidFill>
                          <a:srgbClr val="2DD4B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A2E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Key number</a:t>
                      </a:r>
                      <a:endParaRPr sz="1400" b="1">
                        <a:solidFill>
                          <a:srgbClr val="2DD4B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A2E4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Stock vLLM defaults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323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BBF24"/>
                          </a:solidFill>
                          <a:latin typeface="Calibri"/>
                        </a:rPr>
                        <a:t>32</a:t>
                      </a:r>
                      <a:endParaRPr sz="1600" b="1">
                        <a:solidFill>
                          <a:srgbClr val="FBBF24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3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$57,600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3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39 requests in flight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3233D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+ Prefix caching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0A14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BBF24"/>
                          </a:solidFill>
                          <a:latin typeface="Calibri"/>
                        </a:rPr>
                        <a:t>20</a:t>
                      </a:r>
                      <a:endParaRPr sz="1600" b="1">
                        <a:solidFill>
                          <a:srgbClr val="FBBF24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0A14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$36,000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0A14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64% of prompt tokens not recomputed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0A1428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+ INT8 quantization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323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BBF24"/>
                          </a:solidFill>
                          <a:latin typeface="Calibri"/>
                        </a:rPr>
                        <a:t>8</a:t>
                      </a:r>
                      <a:endParaRPr sz="1600" b="1">
                        <a:solidFill>
                          <a:srgbClr val="FBBF24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3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$14,400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3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98 requests in flight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3233D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+ Speculative decoding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0A14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BBF24"/>
                          </a:solidFill>
                          <a:latin typeface="Calibri"/>
                        </a:rPr>
                        <a:t>8</a:t>
                      </a:r>
                      <a:endParaRPr sz="1600" b="1">
                        <a:solidFill>
                          <a:srgbClr val="FBBF24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0A14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$14,400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0A14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63% accepted, no gain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0A1428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+ Routing + response cache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323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BBF24"/>
                          </a:solidFill>
                          <a:latin typeface="Calibri"/>
                        </a:rPr>
                        <a:t>5</a:t>
                      </a:r>
                      <a:endParaRPr sz="1600" b="1">
                        <a:solidFill>
                          <a:srgbClr val="FBBF24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3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$9,000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323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68% to small model, 26% skip GPU</a:t>
                      </a:r>
                      <a:endParaRPr sz="1600" b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37160" anchor="ctr">
                    <a:solidFill>
                      <a:srgbClr val="13233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4D399"/>
                </a:solidFill>
                <a:latin typeface="Calibri"/>
              </a:rPr>
              <a:t>Final: p95 first token 60 ms, per-token 17.8 ms. $48,600 a month saved.</a:t>
            </a:r>
            <a:endParaRPr sz="1800" b="1">
              <a:solidFill>
                <a:srgbClr val="34D39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15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RESULTS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What surprised us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The two slides most teams get wrong.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212080" cy="329184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87171"/>
                </a:solidFill>
                <a:latin typeface="Calibri"/>
              </a:rPr>
              <a:t>The lever that failed</a:t>
            </a:r>
            <a:endParaRPr sz="2100" b="1">
              <a:solidFill>
                <a:srgbClr val="F87171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Speculative decoding: 8 GPUs → 8. Per-token latency slightly worse.</a:t>
            </a:r>
            <a:endParaRPr sz="16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It worked as designed: 63% of guesses accepted.</a:t>
            </a:r>
            <a:endParaRPr sz="1500" b="0">
              <a:solidFill>
                <a:srgbClr val="9FB3C8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Why: the trick is free only while memory-bound. At 98 requests in flight we are compute-bound, and the extra guesses compete with real work.</a:t>
            </a:r>
            <a:endParaRPr sz="15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A latency tool for low batch. First thing to switch off for cheap volume.</a:t>
            </a:r>
            <a:endParaRPr sz="15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2286000"/>
            <a:ext cx="5212080" cy="329184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450592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BBF24"/>
                </a:solidFill>
                <a:latin typeface="Calibri"/>
              </a:rPr>
              <a:t>The spike test: traffic doubles</a:t>
            </a:r>
            <a:endParaRPr sz="2100" b="1">
              <a:solidFill>
                <a:srgbClr val="FBBF24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Serve everyone: first token 34.9 s. Nobody turned away, nobody served. A capacity problem becomes a total outage.</a:t>
            </a:r>
            <a:endParaRPr sz="15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Protect the promise: cap concurrency, turn away at the door. 0.9 s, 645 served properly, the rest get a fast honest no.</a:t>
            </a:r>
            <a:endParaRPr sz="15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Autoscaling cannot save you: loading a 70B onto cold GPUs takes minutes. The spike is now.</a:t>
            </a:r>
            <a:endParaRPr sz="1500" b="1">
              <a:solidFill>
                <a:srgbClr val="2DD4B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16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WRAP UP</a:t>
            </a:r>
            <a:endParaRPr sz="1400" b="1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The 10x Inference Playbook</a:t>
            </a:r>
            <a:endParaRPr sz="3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Steal this playbook.</a:t>
            </a:r>
            <a:endParaRPr sz="18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383280" cy="141732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0  Measure</a:t>
            </a:r>
            <a:endParaRPr sz="18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Cost per million tokens, per route. You cannot manage what you never measured.</a:t>
            </a:r>
            <a:endParaRPr sz="14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51960" y="2286000"/>
            <a:ext cx="3383280" cy="141732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50592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1  Find your ratio</a:t>
            </a:r>
            <a:endParaRPr sz="18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Prompt tokens vs answer tokens. That one number tells you which bottleneck you have.</a:t>
            </a:r>
            <a:endParaRPr sz="14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63840" y="2286000"/>
            <a:ext cx="3383280" cy="141732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450592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2  Turn on what is free</a:t>
            </a:r>
            <a:endParaRPr sz="18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Caching and batching. No quality cost.</a:t>
            </a:r>
            <a:endParaRPr sz="14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3383280" cy="141732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50791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3  Shrink the model</a:t>
            </a:r>
            <a:endParaRPr sz="18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Quantization. The biggest single technical win.</a:t>
            </a:r>
            <a:endParaRPr sz="14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51960" y="3886200"/>
            <a:ext cx="3383280" cy="141732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050791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4  Route</a:t>
            </a:r>
            <a:endParaRPr sz="18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The largest remaining lever is architectural, not kernel-level.</a:t>
            </a:r>
            <a:endParaRPr sz="14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63840" y="3886200"/>
            <a:ext cx="3383280" cy="1417320"/>
          </a:xfrm>
          <a:prstGeom prst="roundRect">
            <a:avLst>
              <a:gd name="adj" fmla="val 7000"/>
            </a:avLst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050791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5  Clever tricks last</a:t>
            </a:r>
            <a:endParaRPr sz="1800" b="1">
              <a:solidFill>
                <a:srgbClr val="2DD4B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Measured on your own batch sizes. See slide 15.</a:t>
            </a:r>
            <a:endParaRPr sz="14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Where this goes next: capacity planning before you buy GPUs  |  a cost gate in CI  |  build-vs-buy with your own numbers  |  MoE  |  disaggregated prefill and decode</a:t>
            </a:r>
            <a:endParaRPr sz="1500" b="0">
              <a:solidFill>
                <a:srgbClr val="9FB3C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Inference Economics  |  LLM Day San Francisco 2026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17</a:t>
            </a:r>
            <a:endParaRPr sz="1100" b="0">
              <a:solidFill>
                <a:srgbClr val="9FB3C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Questions?</a:t>
            </a:r>
            <a:endParaRPr sz="5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DD4BF"/>
                </a:solidFill>
                <a:latin typeface="Calibri"/>
              </a:rPr>
              <a:t>Bring your worst inference bill.</a:t>
            </a:r>
            <a:endParaRPr sz="2200" b="0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Consolas"/>
              </a:rPr>
              <a:t>github.com/Devang-25/inference-economics</a:t>
            </a:r>
            <a:endParaRPr sz="22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Devang Sharma  |  Senior AI Engineer, Meta</a:t>
            </a:r>
            <a:endParaRPr sz="1900" b="0">
              <a:solidFill>
                <a:srgbClr val="FFFFFF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3C8"/>
                </a:solidFill>
                <a:latin typeface="Calibri"/>
              </a:rPr>
              <a:t>linkedin.com/in/idevangsharma</a:t>
            </a:r>
            <a:endParaRPr sz="1700" b="0">
              <a:solidFill>
                <a:srgbClr val="9FB3C8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8791</Words>
  <Application>WPS Presentation</Application>
  <PresentationFormat>On-screen Show (4:3)</PresentationFormat>
  <Paragraphs>444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Calibri</vt:lpstr>
      <vt:lpstr>Helvetica Neue</vt:lpstr>
      <vt:lpstr>Consolas</vt:lpstr>
      <vt:lpstr>Microsoft YaHei</vt:lpstr>
      <vt:lpstr>汉仪旗黑</vt:lpstr>
      <vt:lpstr>Arial Unicode MS</vt:lpstr>
      <vt:lpstr>Calibri</vt:lpstr>
      <vt:lpstr>Thonburi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Inference Economics: Engineering LLMs for Cost, Latency, and Scale</dc:title>
  <dc:creator>Devang Sharma</dc:creator>
  <dc:description>generated using python-pptx</dc:description>
  <cp:lastModifiedBy>Devang Sharma</cp:lastModifiedBy>
  <cp:revision>2</cp:revision>
  <dcterms:created xsi:type="dcterms:W3CDTF">2026-10-01T08:53:10Z</dcterms:created>
  <dcterms:modified xsi:type="dcterms:W3CDTF">2026-10-01T08:53:10Z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A7BB411824D54E43761FBE6AECD65516_42</vt:lpwstr>
  </property>
  <property fmtid="{D5CDD505-2E9C-101B-9397-08002B2CF9AE}" pid="3" name="KSOProductBuildVer">
    <vt:lpwstr>1033-12.1.28492.28492</vt:lpwstr>
  </property>
</Properties>
</file>